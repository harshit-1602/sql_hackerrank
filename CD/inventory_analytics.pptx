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3" r:id="rId1"/>
  </p:sld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00A29E-E395-4297-82AC-FAEEB15B0817}" v="8" dt="2026-03-25T07:57:20.8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8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60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RAJ" userId="fff508eb58f54e50" providerId="LiveId" clId="{EE738337-18B4-4FC8-88B9-509040AFB27F}"/>
    <pc:docChg chg="custSel modSld">
      <pc:chgData name="ADITYA RAJ" userId="fff508eb58f54e50" providerId="LiveId" clId="{EE738337-18B4-4FC8-88B9-509040AFB27F}" dt="2026-03-25T07:58:27.015" v="312" actId="20577"/>
      <pc:docMkLst>
        <pc:docMk/>
      </pc:docMkLst>
      <pc:sldChg chg="modSp mod">
        <pc:chgData name="ADITYA RAJ" userId="fff508eb58f54e50" providerId="LiveId" clId="{EE738337-18B4-4FC8-88B9-509040AFB27F}" dt="2026-03-25T07:52:00.848" v="227" actId="123"/>
        <pc:sldMkLst>
          <pc:docMk/>
          <pc:sldMk cId="1485402541" sldId="257"/>
        </pc:sldMkLst>
        <pc:spChg chg="mod">
          <ac:chgData name="ADITYA RAJ" userId="fff508eb58f54e50" providerId="LiveId" clId="{EE738337-18B4-4FC8-88B9-509040AFB27F}" dt="2026-03-25T07:52:00.848" v="227" actId="123"/>
          <ac:spMkLst>
            <pc:docMk/>
            <pc:sldMk cId="1485402541" sldId="257"/>
            <ac:spMk id="3" creationId="{9C13C0DF-134A-CE85-2C15-3DCB7DB0337D}"/>
          </ac:spMkLst>
        </pc:spChg>
      </pc:sldChg>
      <pc:sldChg chg="modSp mod">
        <pc:chgData name="ADITYA RAJ" userId="fff508eb58f54e50" providerId="LiveId" clId="{EE738337-18B4-4FC8-88B9-509040AFB27F}" dt="2026-03-25T07:51:52.076" v="226" actId="123"/>
        <pc:sldMkLst>
          <pc:docMk/>
          <pc:sldMk cId="1787367605" sldId="258"/>
        </pc:sldMkLst>
        <pc:spChg chg="mod">
          <ac:chgData name="ADITYA RAJ" userId="fff508eb58f54e50" providerId="LiveId" clId="{EE738337-18B4-4FC8-88B9-509040AFB27F}" dt="2026-03-25T07:51:52.076" v="226" actId="123"/>
          <ac:spMkLst>
            <pc:docMk/>
            <pc:sldMk cId="1787367605" sldId="258"/>
            <ac:spMk id="3" creationId="{8E6E51CA-7540-EB1B-C5E8-E2B0DA2B7BD9}"/>
          </ac:spMkLst>
        </pc:spChg>
      </pc:sldChg>
      <pc:sldChg chg="modSp mod">
        <pc:chgData name="ADITYA RAJ" userId="fff508eb58f54e50" providerId="LiveId" clId="{EE738337-18B4-4FC8-88B9-509040AFB27F}" dt="2026-03-25T07:52:59.641" v="233" actId="255"/>
        <pc:sldMkLst>
          <pc:docMk/>
          <pc:sldMk cId="2218787224" sldId="259"/>
        </pc:sldMkLst>
        <pc:spChg chg="mod">
          <ac:chgData name="ADITYA RAJ" userId="fff508eb58f54e50" providerId="LiveId" clId="{EE738337-18B4-4FC8-88B9-509040AFB27F}" dt="2026-03-25T07:52:59.641" v="233" actId="255"/>
          <ac:spMkLst>
            <pc:docMk/>
            <pc:sldMk cId="2218787224" sldId="259"/>
            <ac:spMk id="7" creationId="{3E05501A-D279-F78C-400D-38DFB4788697}"/>
          </ac:spMkLst>
        </pc:spChg>
      </pc:sldChg>
      <pc:sldChg chg="modSp mod">
        <pc:chgData name="ADITYA RAJ" userId="fff508eb58f54e50" providerId="LiveId" clId="{EE738337-18B4-4FC8-88B9-509040AFB27F}" dt="2026-03-25T07:53:50.286" v="241" actId="20577"/>
        <pc:sldMkLst>
          <pc:docMk/>
          <pc:sldMk cId="28278218" sldId="260"/>
        </pc:sldMkLst>
        <pc:spChg chg="mod">
          <ac:chgData name="ADITYA RAJ" userId="fff508eb58f54e50" providerId="LiveId" clId="{EE738337-18B4-4FC8-88B9-509040AFB27F}" dt="2026-03-25T07:53:50.286" v="241" actId="20577"/>
          <ac:spMkLst>
            <pc:docMk/>
            <pc:sldMk cId="28278218" sldId="260"/>
            <ac:spMk id="3" creationId="{9E9B3DA0-3F59-24FA-B461-8B4C832A7D84}"/>
          </ac:spMkLst>
        </pc:spChg>
      </pc:sldChg>
      <pc:sldChg chg="modSp mod">
        <pc:chgData name="ADITYA RAJ" userId="fff508eb58f54e50" providerId="LiveId" clId="{EE738337-18B4-4FC8-88B9-509040AFB27F}" dt="2026-03-25T07:54:36.679" v="247" actId="20577"/>
        <pc:sldMkLst>
          <pc:docMk/>
          <pc:sldMk cId="3904284559" sldId="261"/>
        </pc:sldMkLst>
        <pc:spChg chg="mod">
          <ac:chgData name="ADITYA RAJ" userId="fff508eb58f54e50" providerId="LiveId" clId="{EE738337-18B4-4FC8-88B9-509040AFB27F}" dt="2026-03-25T07:54:36.679" v="247" actId="20577"/>
          <ac:spMkLst>
            <pc:docMk/>
            <pc:sldMk cId="3904284559" sldId="261"/>
            <ac:spMk id="3" creationId="{22A08087-B297-4B3D-E211-E0FAD49AE012}"/>
          </ac:spMkLst>
        </pc:spChg>
      </pc:sldChg>
      <pc:sldChg chg="modSp mod">
        <pc:chgData name="ADITYA RAJ" userId="fff508eb58f54e50" providerId="LiveId" clId="{EE738337-18B4-4FC8-88B9-509040AFB27F}" dt="2026-03-25T07:55:45.856" v="253" actId="14100"/>
        <pc:sldMkLst>
          <pc:docMk/>
          <pc:sldMk cId="2179353689" sldId="262"/>
        </pc:sldMkLst>
        <pc:spChg chg="mod">
          <ac:chgData name="ADITYA RAJ" userId="fff508eb58f54e50" providerId="LiveId" clId="{EE738337-18B4-4FC8-88B9-509040AFB27F}" dt="2026-03-25T07:55:45.856" v="253" actId="14100"/>
          <ac:spMkLst>
            <pc:docMk/>
            <pc:sldMk cId="2179353689" sldId="262"/>
            <ac:spMk id="3" creationId="{C934491A-74C4-AECC-6FEA-E8F7A56C865D}"/>
          </ac:spMkLst>
        </pc:spChg>
      </pc:sldChg>
      <pc:sldChg chg="modSp mod">
        <pc:chgData name="ADITYA RAJ" userId="fff508eb58f54e50" providerId="LiveId" clId="{EE738337-18B4-4FC8-88B9-509040AFB27F}" dt="2026-03-25T07:57:31.968" v="263" actId="20577"/>
        <pc:sldMkLst>
          <pc:docMk/>
          <pc:sldMk cId="1822968350" sldId="263"/>
        </pc:sldMkLst>
        <pc:spChg chg="mod">
          <ac:chgData name="ADITYA RAJ" userId="fff508eb58f54e50" providerId="LiveId" clId="{EE738337-18B4-4FC8-88B9-509040AFB27F}" dt="2026-03-25T07:57:31.968" v="263" actId="20577"/>
          <ac:spMkLst>
            <pc:docMk/>
            <pc:sldMk cId="1822968350" sldId="263"/>
            <ac:spMk id="3" creationId="{71CA96A3-73CE-3905-F8E8-FD3AEC7D446D}"/>
          </ac:spMkLst>
        </pc:spChg>
      </pc:sldChg>
      <pc:sldChg chg="modSp mod">
        <pc:chgData name="ADITYA RAJ" userId="fff508eb58f54e50" providerId="LiveId" clId="{EE738337-18B4-4FC8-88B9-509040AFB27F}" dt="2026-03-25T07:58:27.015" v="312" actId="20577"/>
        <pc:sldMkLst>
          <pc:docMk/>
          <pc:sldMk cId="1849714350" sldId="264"/>
        </pc:sldMkLst>
        <pc:graphicFrameChg chg="modGraphic">
          <ac:chgData name="ADITYA RAJ" userId="fff508eb58f54e50" providerId="LiveId" clId="{EE738337-18B4-4FC8-88B9-509040AFB27F}" dt="2026-03-25T07:58:27.015" v="312" actId="20577"/>
          <ac:graphicFrameMkLst>
            <pc:docMk/>
            <pc:sldMk cId="1849714350" sldId="264"/>
            <ac:graphicFrameMk id="4" creationId="{7F666E82-B149-C37A-1C08-8DC565939549}"/>
          </ac:graphicFrameMkLst>
        </pc:graphicFrameChg>
      </pc:sldChg>
      <pc:sldChg chg="addSp delSp modSp mod">
        <pc:chgData name="ADITYA RAJ" userId="fff508eb58f54e50" providerId="LiveId" clId="{EE738337-18B4-4FC8-88B9-509040AFB27F}" dt="2026-03-17T09:05:20.812" v="61" actId="20577"/>
        <pc:sldMkLst>
          <pc:docMk/>
          <pc:sldMk cId="3839287490" sldId="266"/>
        </pc:sldMkLst>
        <pc:graphicFrameChg chg="modGraphic">
          <ac:chgData name="ADITYA RAJ" userId="fff508eb58f54e50" providerId="LiveId" clId="{EE738337-18B4-4FC8-88B9-509040AFB27F}" dt="2026-03-17T09:05:20.812" v="61" actId="20577"/>
          <ac:graphicFrameMkLst>
            <pc:docMk/>
            <pc:sldMk cId="3839287490" sldId="266"/>
            <ac:graphicFrameMk id="4" creationId="{D1BB32EC-7598-41B3-7823-9F0B9AB6271B}"/>
          </ac:graphicFrameMkLst>
        </pc:graphicFrameChg>
      </pc:sldChg>
      <pc:sldChg chg="modSp mod">
        <pc:chgData name="ADITYA RAJ" userId="fff508eb58f54e50" providerId="LiveId" clId="{EE738337-18B4-4FC8-88B9-509040AFB27F}" dt="2026-03-25T07:33:43.220" v="213" actId="20577"/>
        <pc:sldMkLst>
          <pc:docMk/>
          <pc:sldMk cId="3008495688" sldId="268"/>
        </pc:sldMkLst>
        <pc:spChg chg="mod">
          <ac:chgData name="ADITYA RAJ" userId="fff508eb58f54e50" providerId="LiveId" clId="{EE738337-18B4-4FC8-88B9-509040AFB27F}" dt="2026-03-25T07:30:29.034" v="113" actId="20577"/>
          <ac:spMkLst>
            <pc:docMk/>
            <pc:sldMk cId="3008495688" sldId="268"/>
            <ac:spMk id="4" creationId="{00000000-0000-0000-0000-000000000000}"/>
          </ac:spMkLst>
        </pc:spChg>
        <pc:spChg chg="mod">
          <ac:chgData name="ADITYA RAJ" userId="fff508eb58f54e50" providerId="LiveId" clId="{EE738337-18B4-4FC8-88B9-509040AFB27F}" dt="2026-03-25T07:31:40.283" v="168" actId="1076"/>
          <ac:spMkLst>
            <pc:docMk/>
            <pc:sldMk cId="3008495688" sldId="268"/>
            <ac:spMk id="8" creationId="{00000000-0000-0000-0000-000000000000}"/>
          </ac:spMkLst>
        </pc:spChg>
        <pc:spChg chg="mod">
          <ac:chgData name="ADITYA RAJ" userId="fff508eb58f54e50" providerId="LiveId" clId="{EE738337-18B4-4FC8-88B9-509040AFB27F}" dt="2026-03-25T07:33:28.193" v="209" actId="1076"/>
          <ac:spMkLst>
            <pc:docMk/>
            <pc:sldMk cId="3008495688" sldId="268"/>
            <ac:spMk id="13" creationId="{00000000-0000-0000-0000-000000000000}"/>
          </ac:spMkLst>
        </pc:spChg>
        <pc:spChg chg="mod">
          <ac:chgData name="ADITYA RAJ" userId="fff508eb58f54e50" providerId="LiveId" clId="{EE738337-18B4-4FC8-88B9-509040AFB27F}" dt="2026-03-25T07:33:43.220" v="213" actId="20577"/>
          <ac:spMkLst>
            <pc:docMk/>
            <pc:sldMk cId="3008495688" sldId="268"/>
            <ac:spMk id="1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40734-9C5C-42C7-8BAC-12F1DE29395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1755C-3F18-43F3-AF5D-D7F9CECA1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828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40734-9C5C-42C7-8BAC-12F1DE29395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1755C-3F18-43F3-AF5D-D7F9CECA1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536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40734-9C5C-42C7-8BAC-12F1DE29395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1755C-3F18-43F3-AF5D-D7F9CECA1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894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40734-9C5C-42C7-8BAC-12F1DE29395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1755C-3F18-43F3-AF5D-D7F9CECA1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501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40734-9C5C-42C7-8BAC-12F1DE29395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1755C-3F18-43F3-AF5D-D7F9CECA1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422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40734-9C5C-42C7-8BAC-12F1DE29395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1755C-3F18-43F3-AF5D-D7F9CECA1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81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40734-9C5C-42C7-8BAC-12F1DE29395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1755C-3F18-43F3-AF5D-D7F9CECA1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477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40734-9C5C-42C7-8BAC-12F1DE29395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1755C-3F18-43F3-AF5D-D7F9CECA1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314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1755C-3F18-43F3-AF5D-D7F9CECA1A59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40734-9C5C-42C7-8BAC-12F1DE293957}" type="datetimeFigureOut">
              <a:rPr lang="en-IN" smtClean="0"/>
              <a:t>03-04-2026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41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40734-9C5C-42C7-8BAC-12F1DE29395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1755C-3F18-43F3-AF5D-D7F9CECA1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193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40734-9C5C-42C7-8BAC-12F1DE29395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1755C-3F18-43F3-AF5D-D7F9CECA1A59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04987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40734-9C5C-42C7-8BAC-12F1DE29395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1755C-3F18-43F3-AF5D-D7F9CECA1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015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40734-9C5C-42C7-8BAC-12F1DE29395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1755C-3F18-43F3-AF5D-D7F9CECA1A59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58401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40734-9C5C-42C7-8BAC-12F1DE29395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1755C-3F18-43F3-AF5D-D7F9CECA1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6650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40734-9C5C-42C7-8BAC-12F1DE29395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1755C-3F18-43F3-AF5D-D7F9CECA1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3954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40734-9C5C-42C7-8BAC-12F1DE29395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1755C-3F18-43F3-AF5D-D7F9CECA1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63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540734-9C5C-42C7-8BAC-12F1DE29395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971755C-3F18-43F3-AF5D-D7F9CECA1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527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1966835" y="297610"/>
            <a:ext cx="6889377" cy="785818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0070C0"/>
                </a:solidFill>
                <a:latin typeface="Cambria" pitchFamily="18" charset="0"/>
                <a:cs typeface="BrowalliaUPC" pitchFamily="34" charset="-34"/>
              </a:rPr>
              <a:t>Industrial Component Inventory Analytics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982023" y="1052114"/>
            <a:ext cx="22860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457200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ambria" pitchFamily="18" charset="0"/>
                <a:ea typeface="Calibri" pitchFamily="34" charset="0"/>
                <a:cs typeface="Microsoft Sans Serif" pitchFamily="34" charset="0"/>
              </a:rPr>
              <a:t>developed</a:t>
            </a:r>
            <a:r>
              <a:rPr lang="en-US" dirty="0">
                <a:latin typeface="Cambria" pitchFamily="18" charset="0"/>
                <a:ea typeface="Calibri" pitchFamily="34" charset="0"/>
                <a:cs typeface="Arial" pitchFamily="34" charset="0"/>
              </a:rPr>
              <a:t> </a:t>
            </a:r>
            <a:r>
              <a:rPr lang="en-US" b="1" dirty="0">
                <a:latin typeface="Cambria" pitchFamily="18" charset="0"/>
                <a:ea typeface="Calibri" pitchFamily="34" charset="0"/>
                <a:cs typeface="Microsoft Sans Serif" pitchFamily="34" charset="0"/>
              </a:rPr>
              <a:t>at</a:t>
            </a:r>
            <a:endParaRPr lang="en-US" dirty="0">
              <a:latin typeface="Cambria" pitchFamily="18" charset="0"/>
              <a:cs typeface="Arial" pitchFamily="34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428779" y="1367675"/>
            <a:ext cx="5392502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45720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dirty="0">
                <a:solidFill>
                  <a:srgbClr val="0070C0"/>
                </a:solidFill>
                <a:latin typeface="Cambria" pitchFamily="18" charset="0"/>
                <a:ea typeface="Calibri" pitchFamily="34" charset="0"/>
                <a:cs typeface="Microsoft Sans Serif" pitchFamily="34" charset="0"/>
              </a:rPr>
              <a:t>Vermin Industries Pvt. Ltd - Vadodara</a:t>
            </a:r>
            <a:endParaRPr lang="en-US" sz="22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3930371" y="2061249"/>
            <a:ext cx="29623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ambria" pitchFamily="18" charset="0"/>
                <a:ea typeface="Calibri" pitchFamily="34" charset="0"/>
                <a:cs typeface="Microsoft Sans Serif" pitchFamily="34" charset="0"/>
              </a:rPr>
              <a:t>Under The Guidance 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2679" y="4731724"/>
            <a:ext cx="459889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itchFamily="18" charset="0"/>
              </a:rPr>
              <a:t>Submitted To:</a:t>
            </a:r>
            <a:endParaRPr lang="en-US" dirty="0">
              <a:latin typeface="Cambria" pitchFamily="18" charset="0"/>
            </a:endParaRPr>
          </a:p>
          <a:p>
            <a:r>
              <a:rPr lang="en-US" sz="2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18" charset="0"/>
              </a:rPr>
              <a:t>Department of MCA</a:t>
            </a:r>
          </a:p>
          <a:p>
            <a:r>
              <a:rPr lang="en-US" sz="2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18" charset="0"/>
              </a:rPr>
              <a:t>Faculty of IT &amp; Computer Science,</a:t>
            </a:r>
          </a:p>
          <a:p>
            <a:r>
              <a:rPr lang="en-US" sz="2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18" charset="0"/>
              </a:rPr>
              <a:t>PARUL University</a:t>
            </a:r>
            <a:endParaRPr lang="en-US" sz="2100" b="1" dirty="0">
              <a:solidFill>
                <a:schemeClr val="accent4">
                  <a:lumMod val="75000"/>
                </a:schemeClr>
              </a:solidFill>
              <a:latin typeface="Cambria" pitchFamily="18" charset="0"/>
            </a:endParaRPr>
          </a:p>
        </p:txBody>
      </p:sp>
      <p:pic>
        <p:nvPicPr>
          <p:cNvPr id="12" name="Picture 11" descr="C:\Users\HP\Desktop\pu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67571" y="4538931"/>
            <a:ext cx="2447911" cy="157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410375" y="2546087"/>
            <a:ext cx="2962304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latin typeface="Cambria" pitchFamily="18" charset="0"/>
                <a:ea typeface="Calibri" pitchFamily="34" charset="0"/>
                <a:cs typeface="Microsoft Sans Serif" pitchFamily="34" charset="0"/>
              </a:rPr>
              <a:t>Internal Guide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70C0"/>
                </a:solidFill>
                <a:latin typeface="Cambria" pitchFamily="18" charset="0"/>
                <a:ea typeface="Calibri" pitchFamily="34" charset="0"/>
                <a:cs typeface="Microsoft Sans Serif" pitchFamily="34" charset="0"/>
              </a:rPr>
              <a:t>Prof. Vijya Tulsani</a:t>
            </a: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1966834" y="3016077"/>
            <a:ext cx="6889377" cy="1046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45720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ambria" pitchFamily="18" charset="0"/>
                <a:ea typeface="Calibri" pitchFamily="34" charset="0"/>
                <a:cs typeface="Microsoft Sans Serif" pitchFamily="34" charset="0"/>
              </a:rPr>
              <a:t>Developed By</a:t>
            </a:r>
          </a:p>
          <a:p>
            <a:pPr indent="45720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dirty="0">
                <a:solidFill>
                  <a:srgbClr val="0070C0"/>
                </a:solidFill>
                <a:latin typeface="Cambria" pitchFamily="18" charset="0"/>
                <a:ea typeface="Calibri" pitchFamily="34" charset="0"/>
                <a:cs typeface="Microsoft Sans Serif" pitchFamily="34" charset="0"/>
              </a:rPr>
              <a:t>Tushar Yadav (2405112120198)</a:t>
            </a:r>
          </a:p>
          <a:p>
            <a:pPr indent="45720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dirty="0">
                <a:solidFill>
                  <a:srgbClr val="0070C0"/>
                </a:solidFill>
                <a:latin typeface="Cambria" pitchFamily="18" charset="0"/>
                <a:ea typeface="Calibri" pitchFamily="34" charset="0"/>
                <a:cs typeface="Microsoft Sans Serif" pitchFamily="34" charset="0"/>
              </a:rPr>
              <a:t>Harshit Uppal (2405112130039)</a:t>
            </a: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5893908" y="2548475"/>
            <a:ext cx="2962304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latin typeface="Cambria" pitchFamily="18" charset="0"/>
                <a:ea typeface="Calibri" pitchFamily="34" charset="0"/>
                <a:cs typeface="Microsoft Sans Serif" pitchFamily="34" charset="0"/>
              </a:rPr>
              <a:t>External Guide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70C0"/>
                </a:solidFill>
                <a:latin typeface="Cambria" pitchFamily="18" charset="0"/>
                <a:ea typeface="Calibri" pitchFamily="34" charset="0"/>
                <a:cs typeface="Microsoft Sans Serif" pitchFamily="34" charset="0"/>
              </a:rPr>
              <a:t>Gaurang Patel</a:t>
            </a:r>
          </a:p>
        </p:txBody>
      </p:sp>
    </p:spTree>
    <p:extLst>
      <p:ext uri="{BB962C8B-B14F-4D97-AF65-F5344CB8AC3E}">
        <p14:creationId xmlns:p14="http://schemas.microsoft.com/office/powerpoint/2010/main" val="3008495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2143D-A8A4-0B51-E274-4E4B2D68E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47841" y="482327"/>
            <a:ext cx="7766936" cy="784979"/>
          </a:xfrm>
        </p:spPr>
        <p:txBody>
          <a:bodyPr/>
          <a:lstStyle/>
          <a:p>
            <a:pPr algn="ctr"/>
            <a:r>
              <a:rPr lang="en-IN" sz="3200" b="1" dirty="0"/>
              <a:t>Project Definition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AEB7B60-6F28-D3F5-9EDC-37568A54B9D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85312" y="2245391"/>
            <a:ext cx="893879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full-stack web-based application to manage inventory data, procurement performance, supplier relationships, and stock health.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an interactive 7-page Power BI dashboard with 22 custom DAX measures.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on MySQL database backend with a Streamlit web application for real-time data management and SQL-based querying.</a:t>
            </a:r>
          </a:p>
        </p:txBody>
      </p:sp>
    </p:spTree>
    <p:extLst>
      <p:ext uri="{BB962C8B-B14F-4D97-AF65-F5344CB8AC3E}">
        <p14:creationId xmlns:p14="http://schemas.microsoft.com/office/powerpoint/2010/main" val="1485402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E6580-14AA-A9E4-9838-3BB76BF86D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6438" y="576943"/>
            <a:ext cx="7766936" cy="642257"/>
          </a:xfrm>
        </p:spPr>
        <p:txBody>
          <a:bodyPr/>
          <a:lstStyle/>
          <a:p>
            <a:pPr algn="ctr"/>
            <a:r>
              <a:rPr lang="en-IN" sz="3200" b="1" dirty="0"/>
              <a:t>Project Description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BA2118-28BA-32AD-5478-766F4005B71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36122" y="1917509"/>
            <a:ext cx="823547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Manages data across four core relational tables: Suppliers, Components, Purchase Orders,, Critical Stock Alerts Inventory Stock.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real-time visibility into procurement performance and supplier quality benchmarking across India and Korea.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Automates stock status classification into Critical, Low, Normal, and Excess categories.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KPIs: Total PO Value Rs. 1.58M, Delivery Rate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94.17%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42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Overall Inventory Health Score 84%.</a:t>
            </a:r>
          </a:p>
        </p:txBody>
      </p:sp>
    </p:spTree>
    <p:extLst>
      <p:ext uri="{BB962C8B-B14F-4D97-AF65-F5344CB8AC3E}">
        <p14:creationId xmlns:p14="http://schemas.microsoft.com/office/powerpoint/2010/main" val="1787367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D075-5556-AAB6-29C1-0B24375EF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4038" y="238277"/>
            <a:ext cx="7766936" cy="784980"/>
          </a:xfrm>
        </p:spPr>
        <p:txBody>
          <a:bodyPr/>
          <a:lstStyle/>
          <a:p>
            <a:pPr algn="ctr"/>
            <a:r>
              <a:rPr lang="en-IN" sz="3200" b="1" dirty="0"/>
              <a:t>Existing System / Work Environment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FA974A-72E7-B942-DA86-7F811A116E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4038" y="1492690"/>
            <a:ext cx="7766936" cy="4810139"/>
          </a:xfrm>
        </p:spPr>
        <p:txBody>
          <a:bodyPr>
            <a:normAutofit/>
          </a:bodyPr>
          <a:lstStyle/>
          <a:p>
            <a:pPr algn="l"/>
            <a:r>
              <a:rPr lang="en-IN" sz="2400" dirty="0"/>
              <a:t> 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F99817F-E8A0-2764-ED15-57EA99ED0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4152" y="1400531"/>
            <a:ext cx="848822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Excel spreadsheets with no relational structure or data integrity enforcement.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centralized database — data scattered across multiple individual Excel files.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automated stock alerts or reorder level notifications for critical components.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interactive dashboard for management-level KPI reporting and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218787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74B88-A73E-B1A7-70C2-6C6F82A04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1381" y="401562"/>
            <a:ext cx="7766936" cy="763209"/>
          </a:xfrm>
        </p:spPr>
        <p:txBody>
          <a:bodyPr/>
          <a:lstStyle/>
          <a:p>
            <a:pPr algn="ctr"/>
            <a:r>
              <a:rPr lang="en-IN" sz="3200" b="1" dirty="0"/>
              <a:t>Problem Statement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6B6F81-5194-3030-6324-742C598CE9C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682238" y="1729653"/>
            <a:ext cx="786579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Integrity: Multiple unlinked Excel files caused data duplication and version conflicts.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Inefficient Stock Tracking: No automated mechanism to classify stock status or flag reorder levels.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Centralised Platform: Managers had no single interface to view procurement and stock KPIs.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Supplier Benchmarking: India vs Korea supplier comparison was done manually and infrequently.</a:t>
            </a:r>
          </a:p>
        </p:txBody>
      </p:sp>
    </p:spTree>
    <p:extLst>
      <p:ext uri="{BB962C8B-B14F-4D97-AF65-F5344CB8AC3E}">
        <p14:creationId xmlns:p14="http://schemas.microsoft.com/office/powerpoint/2010/main" val="28278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6EEA0-E74A-A9AE-99C4-7CF0D4CD4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4924" y="379792"/>
            <a:ext cx="7766936" cy="817638"/>
          </a:xfrm>
        </p:spPr>
        <p:txBody>
          <a:bodyPr/>
          <a:lstStyle/>
          <a:p>
            <a:pPr algn="ctr"/>
            <a:r>
              <a:rPr lang="en-IN" sz="3200" b="1" dirty="0"/>
              <a:t>Need for the New System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093EB4-F2F3-1E19-D0D9-01723483A5D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01999" y="2360174"/>
            <a:ext cx="833439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Establish a normalised relational database to eliminate data duplication and ensure integrity.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 stock status classification and generate alerts for critical inventory items.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an interactive web-based interface accessible from any authorised device.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 a multi-page Power BI dashboard with real-time KPIs for management reporting.</a:t>
            </a:r>
          </a:p>
        </p:txBody>
      </p:sp>
    </p:spTree>
    <p:extLst>
      <p:ext uri="{BB962C8B-B14F-4D97-AF65-F5344CB8AC3E}">
        <p14:creationId xmlns:p14="http://schemas.microsoft.com/office/powerpoint/2010/main" val="3904284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DF397-D9AE-86CE-A0FD-E3A0C09E9C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4038" y="314478"/>
            <a:ext cx="7766936" cy="654352"/>
          </a:xfrm>
        </p:spPr>
        <p:txBody>
          <a:bodyPr/>
          <a:lstStyle/>
          <a:p>
            <a:pPr algn="ctr"/>
            <a:r>
              <a:rPr lang="en-IN" sz="3200" b="1" dirty="0"/>
              <a:t>Proposed System and Features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22C1D0-B081-D4B5-750A-08273640C08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400943" y="2020376"/>
            <a:ext cx="811202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 Database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4 normalised tables with 3 enforced foreign key relationships.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Dashboard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7-page interactive dashboard with 22 custom DAX measures.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 Web App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Multi-tab interface with full CRUD operations across all data tables.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Query Runner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Live SQL execution using in-memory SQLite engine with CSV export.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Stock Alerts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Automated critical stock alerts and India vs Korea supplier benchmarking.</a:t>
            </a:r>
          </a:p>
        </p:txBody>
      </p:sp>
    </p:spTree>
    <p:extLst>
      <p:ext uri="{BB962C8B-B14F-4D97-AF65-F5344CB8AC3E}">
        <p14:creationId xmlns:p14="http://schemas.microsoft.com/office/powerpoint/2010/main" val="2179353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58654-FC24-4DA1-6CA7-140E0ABAA3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2267" y="401563"/>
            <a:ext cx="7766936" cy="589037"/>
          </a:xfrm>
        </p:spPr>
        <p:txBody>
          <a:bodyPr/>
          <a:lstStyle/>
          <a:p>
            <a:pPr algn="ctr"/>
            <a:r>
              <a:rPr lang="en-IN" sz="3200" b="1" dirty="0"/>
              <a:t>Scope &amp; Expected Outcomes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AF19ED3-6485-F795-5539-A6AC588D3F3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74946" y="2158296"/>
            <a:ext cx="924483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Internal use by Vermin Industries — 120 POs, 17 components, 12 vendors (June–Dec 2024).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Scope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Role-based access control, cloud database migration, real-time Power BI sync.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Outcomes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94.17% delivery rate, 42 critical alerts, 84% health score, 707+ lines Python code,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replacing fragmented Excel-based manual tracking.</a:t>
            </a:r>
          </a:p>
        </p:txBody>
      </p:sp>
    </p:spTree>
    <p:extLst>
      <p:ext uri="{BB962C8B-B14F-4D97-AF65-F5344CB8AC3E}">
        <p14:creationId xmlns:p14="http://schemas.microsoft.com/office/powerpoint/2010/main" val="1822968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F0074-0A4D-5AEA-36EA-35DF3456B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0495" y="412448"/>
            <a:ext cx="7766936" cy="589037"/>
          </a:xfrm>
        </p:spPr>
        <p:txBody>
          <a:bodyPr/>
          <a:lstStyle/>
          <a:p>
            <a:pPr algn="ctr"/>
            <a:r>
              <a:rPr lang="en-IN" sz="3200" b="1" dirty="0"/>
              <a:t>Tools and Technologies Used</a:t>
            </a:r>
            <a:endParaRPr lang="en-IN" sz="32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0495EE9-6BBD-A388-1B3C-A230F15C2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5549" y="1720842"/>
            <a:ext cx="663677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Development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Python 3.10+, Streamlit framework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Intelligence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Microsoft Power BI Desktop — 7-page dashboard, DAX measures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MySQL 8.0 (4 tables, 3 FK relationships), SQLite in-memory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Pandas,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NumPy,Microsoft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Excel (.xlsx)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 Environment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VS Code / PyCharm, Windows 10/11, Chrome / Edge</a:t>
            </a:r>
          </a:p>
        </p:txBody>
      </p:sp>
    </p:spTree>
    <p:extLst>
      <p:ext uri="{BB962C8B-B14F-4D97-AF65-F5344CB8AC3E}">
        <p14:creationId xmlns:p14="http://schemas.microsoft.com/office/powerpoint/2010/main" val="1849714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63FED-ACE2-BE36-1095-CED336915D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2267" y="303591"/>
            <a:ext cx="7766936" cy="589037"/>
          </a:xfrm>
        </p:spPr>
        <p:txBody>
          <a:bodyPr/>
          <a:lstStyle/>
          <a:p>
            <a:pPr algn="ctr"/>
            <a:r>
              <a:rPr lang="en-IN" sz="3200" b="1" dirty="0"/>
              <a:t>Project Plan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B84430-F3C7-F386-3D7A-FF388D88E74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624526" y="2268589"/>
            <a:ext cx="794102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Requirement gathering &amp; data collection — Week 1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MySQL database design &amp; normalization — Week 2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Power BI dashboard development (7 pages) — Week 3-4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4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Streamlit app — core data management module — Week 5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Documentation &amp; final report — Week 7-8</a:t>
            </a:r>
          </a:p>
        </p:txBody>
      </p:sp>
    </p:spTree>
    <p:extLst>
      <p:ext uri="{BB962C8B-B14F-4D97-AF65-F5344CB8AC3E}">
        <p14:creationId xmlns:p14="http://schemas.microsoft.com/office/powerpoint/2010/main" val="979323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60D82-9504-FB8E-01FB-98AEA0809A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4924" y="283028"/>
            <a:ext cx="7766936" cy="621836"/>
          </a:xfrm>
        </p:spPr>
        <p:txBody>
          <a:bodyPr/>
          <a:lstStyle/>
          <a:p>
            <a:pPr algn="ctr"/>
            <a:r>
              <a:rPr lang="en-US" sz="3200" b="1" dirty="0"/>
              <a:t>Project Plan &amp; Timeline</a:t>
            </a:r>
            <a:endParaRPr lang="en-IN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A72B84-CF7F-6B1D-223C-F74EC24AAA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4924" y="1144347"/>
            <a:ext cx="7766936" cy="5430625"/>
          </a:xfrm>
        </p:spPr>
        <p:txBody>
          <a:bodyPr/>
          <a:lstStyle/>
          <a:p>
            <a:r>
              <a:rPr lang="en-GB" dirty="0"/>
              <a:t> 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BB32EC-7598-41B3-7823-9F0B9AB627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887566"/>
              </p:ext>
            </p:extLst>
          </p:nvPr>
        </p:nvGraphicFramePr>
        <p:xfrm>
          <a:off x="1153886" y="1698171"/>
          <a:ext cx="7847973" cy="49459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15991">
                  <a:extLst>
                    <a:ext uri="{9D8B030D-6E8A-4147-A177-3AD203B41FA5}">
                      <a16:colId xmlns:a16="http://schemas.microsoft.com/office/drawing/2014/main" val="438855097"/>
                    </a:ext>
                  </a:extLst>
                </a:gridCol>
                <a:gridCol w="2615991">
                  <a:extLst>
                    <a:ext uri="{9D8B030D-6E8A-4147-A177-3AD203B41FA5}">
                      <a16:colId xmlns:a16="http://schemas.microsoft.com/office/drawing/2014/main" val="1814554056"/>
                    </a:ext>
                  </a:extLst>
                </a:gridCol>
                <a:gridCol w="2615991">
                  <a:extLst>
                    <a:ext uri="{9D8B030D-6E8A-4147-A177-3AD203B41FA5}">
                      <a16:colId xmlns:a16="http://schemas.microsoft.com/office/drawing/2014/main" val="2084370951"/>
                    </a:ext>
                  </a:extLst>
                </a:gridCol>
              </a:tblGrid>
              <a:tr h="497894">
                <a:tc>
                  <a:txBody>
                    <a:bodyPr/>
                    <a:lstStyle/>
                    <a:p>
                      <a:pPr marL="234950" indent="-6350" algn="l">
                        <a:lnSpc>
                          <a:spcPct val="103000"/>
                        </a:lnSpc>
                        <a:spcAft>
                          <a:spcPts val="15"/>
                        </a:spcAft>
                        <a:buNone/>
                      </a:pPr>
                      <a:r>
                        <a:rPr lang="en-US" sz="2400" b="1" kern="100" dirty="0">
                          <a:effectLst/>
                        </a:rPr>
                        <a:t>Task</a:t>
                      </a:r>
                      <a:endParaRPr lang="en-IN" sz="2400" b="1" kern="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34950" indent="-6350" algn="l">
                        <a:lnSpc>
                          <a:spcPct val="103000"/>
                        </a:lnSpc>
                        <a:spcAft>
                          <a:spcPts val="15"/>
                        </a:spcAft>
                        <a:buNone/>
                      </a:pPr>
                      <a:r>
                        <a:rPr lang="en-US" sz="2400" b="1" kern="100" dirty="0">
                          <a:effectLst/>
                        </a:rPr>
                        <a:t>Start Date</a:t>
                      </a:r>
                      <a:endParaRPr lang="en-IN" sz="2400" b="1" kern="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34950" indent="-6350" algn="l">
                        <a:lnSpc>
                          <a:spcPct val="103000"/>
                        </a:lnSpc>
                        <a:spcAft>
                          <a:spcPts val="15"/>
                        </a:spcAft>
                        <a:buNone/>
                      </a:pPr>
                      <a:r>
                        <a:rPr lang="en-US" sz="2400" b="1" kern="100">
                          <a:effectLst/>
                        </a:rPr>
                        <a:t>End Date</a:t>
                      </a:r>
                      <a:endParaRPr lang="en-IN" sz="2400" b="1" kern="1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17491786"/>
                  </a:ext>
                </a:extLst>
              </a:tr>
              <a:tr h="497894">
                <a:tc>
                  <a:txBody>
                    <a:bodyPr/>
                    <a:lstStyle/>
                    <a:p>
                      <a:pPr marL="234950" indent="-6350" algn="l">
                        <a:lnSpc>
                          <a:spcPct val="103000"/>
                        </a:lnSpc>
                        <a:spcAft>
                          <a:spcPts val="15"/>
                        </a:spcAft>
                        <a:buNone/>
                      </a:pPr>
                      <a:r>
                        <a:rPr lang="en-US" sz="2400" b="1" kern="100" dirty="0">
                          <a:effectLst/>
                        </a:rPr>
                        <a:t>Requirement Gathering</a:t>
                      </a:r>
                      <a:endParaRPr lang="en-IN" sz="2400" b="1" kern="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34950" indent="-6350" algn="l">
                        <a:lnSpc>
                          <a:spcPct val="103000"/>
                        </a:lnSpc>
                        <a:spcAft>
                          <a:spcPts val="15"/>
                        </a:spcAft>
                        <a:buNone/>
                      </a:pPr>
                      <a:r>
                        <a:rPr lang="en-US" sz="2400" b="0" kern="100" dirty="0">
                          <a:effectLst/>
                        </a:rPr>
                        <a:t>Week 1</a:t>
                      </a:r>
                      <a:endParaRPr lang="en-IN" sz="2400" b="0" kern="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34950" indent="-6350" algn="l">
                        <a:lnSpc>
                          <a:spcPct val="103000"/>
                        </a:lnSpc>
                        <a:spcAft>
                          <a:spcPts val="15"/>
                        </a:spcAft>
                        <a:buNone/>
                      </a:pPr>
                      <a:r>
                        <a:rPr lang="en-US" sz="2400" b="0" kern="100">
                          <a:effectLst/>
                        </a:rPr>
                        <a:t>Week 1</a:t>
                      </a:r>
                      <a:endParaRPr lang="en-IN" sz="2400" b="0" kern="1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64631841"/>
                  </a:ext>
                </a:extLst>
              </a:tr>
              <a:tr h="1028116">
                <a:tc>
                  <a:txBody>
                    <a:bodyPr/>
                    <a:lstStyle/>
                    <a:p>
                      <a:pPr marL="234950" indent="-6350" algn="l">
                        <a:lnSpc>
                          <a:spcPct val="103000"/>
                        </a:lnSpc>
                        <a:spcAft>
                          <a:spcPts val="15"/>
                        </a:spcAft>
                        <a:buNone/>
                      </a:pPr>
                      <a:r>
                        <a:rPr lang="en-US" sz="2400" b="1" kern="100" dirty="0">
                          <a:effectLst/>
                        </a:rPr>
                        <a:t>Database Design</a:t>
                      </a:r>
                      <a:endParaRPr lang="en-IN" sz="2400" b="1" kern="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34950" indent="-6350" algn="l">
                        <a:lnSpc>
                          <a:spcPct val="103000"/>
                        </a:lnSpc>
                        <a:spcAft>
                          <a:spcPts val="15"/>
                        </a:spcAft>
                        <a:buNone/>
                      </a:pPr>
                      <a:r>
                        <a:rPr lang="en-US" sz="2400" b="0" kern="100" dirty="0">
                          <a:effectLst/>
                        </a:rPr>
                        <a:t>Week 2</a:t>
                      </a:r>
                      <a:endParaRPr lang="en-IN" sz="2400" b="0" kern="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34950" indent="-6350" algn="l">
                        <a:lnSpc>
                          <a:spcPct val="103000"/>
                        </a:lnSpc>
                        <a:spcAft>
                          <a:spcPts val="15"/>
                        </a:spcAft>
                        <a:buNone/>
                      </a:pPr>
                      <a:r>
                        <a:rPr lang="en-US" sz="2400" b="0" kern="100" dirty="0">
                          <a:effectLst/>
                        </a:rPr>
                        <a:t>Week 2</a:t>
                      </a:r>
                      <a:endParaRPr lang="en-IN" sz="2400" b="0" kern="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45677824"/>
                  </a:ext>
                </a:extLst>
              </a:tr>
              <a:tr h="497894">
                <a:tc>
                  <a:txBody>
                    <a:bodyPr/>
                    <a:lstStyle/>
                    <a:p>
                      <a:pPr marL="234950" indent="-6350" algn="l">
                        <a:lnSpc>
                          <a:spcPct val="103000"/>
                        </a:lnSpc>
                        <a:spcAft>
                          <a:spcPts val="15"/>
                        </a:spcAft>
                        <a:buNone/>
                      </a:pPr>
                      <a:r>
                        <a:rPr lang="en-US" sz="2400" b="1" kern="100">
                          <a:effectLst/>
                        </a:rPr>
                        <a:t>Power BI Dashboard</a:t>
                      </a:r>
                      <a:endParaRPr lang="en-IN" sz="2400" b="1" kern="1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34950" indent="-6350" algn="l">
                        <a:lnSpc>
                          <a:spcPct val="103000"/>
                        </a:lnSpc>
                        <a:spcAft>
                          <a:spcPts val="15"/>
                        </a:spcAft>
                        <a:buNone/>
                      </a:pPr>
                      <a:r>
                        <a:rPr lang="en-US" sz="2400" b="0" kern="100" dirty="0">
                          <a:effectLst/>
                        </a:rPr>
                        <a:t>Week 3-4</a:t>
                      </a:r>
                      <a:endParaRPr lang="en-IN" sz="2400" b="0" kern="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34950" indent="-6350" algn="l">
                        <a:lnSpc>
                          <a:spcPct val="103000"/>
                        </a:lnSpc>
                        <a:spcAft>
                          <a:spcPts val="15"/>
                        </a:spcAft>
                        <a:buNone/>
                      </a:pPr>
                      <a:r>
                        <a:rPr lang="en-US" sz="2400" b="0" kern="100" dirty="0">
                          <a:effectLst/>
                        </a:rPr>
                        <a:t>Week 3-4</a:t>
                      </a:r>
                      <a:endParaRPr lang="en-IN" sz="2400" b="0" kern="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02866699"/>
                  </a:ext>
                </a:extLst>
              </a:tr>
              <a:tr h="497894">
                <a:tc>
                  <a:txBody>
                    <a:bodyPr/>
                    <a:lstStyle/>
                    <a:p>
                      <a:pPr marL="234950" indent="-6350" algn="l">
                        <a:lnSpc>
                          <a:spcPct val="103000"/>
                        </a:lnSpc>
                        <a:spcAft>
                          <a:spcPts val="15"/>
                        </a:spcAft>
                        <a:buNone/>
                      </a:pPr>
                      <a:r>
                        <a:rPr lang="en-US" sz="2400" b="1" kern="100">
                          <a:effectLst/>
                        </a:rPr>
                        <a:t>Streamlit App Dev</a:t>
                      </a:r>
                      <a:endParaRPr lang="en-IN" sz="2400" b="1" kern="1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34950" indent="-6350" algn="l">
                        <a:lnSpc>
                          <a:spcPct val="103000"/>
                        </a:lnSpc>
                        <a:spcAft>
                          <a:spcPts val="15"/>
                        </a:spcAft>
                        <a:buNone/>
                      </a:pPr>
                      <a:r>
                        <a:rPr lang="en-US" sz="2400" b="0" kern="100" dirty="0">
                          <a:effectLst/>
                        </a:rPr>
                        <a:t>Week 5</a:t>
                      </a:r>
                      <a:endParaRPr lang="en-IN" sz="2400" b="0" kern="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34950" indent="-6350" algn="l">
                        <a:lnSpc>
                          <a:spcPct val="103000"/>
                        </a:lnSpc>
                        <a:spcAft>
                          <a:spcPts val="15"/>
                        </a:spcAft>
                        <a:buNone/>
                      </a:pPr>
                      <a:r>
                        <a:rPr lang="en-US" sz="2400" b="0" kern="100" dirty="0">
                          <a:effectLst/>
                        </a:rPr>
                        <a:t>Week 5</a:t>
                      </a:r>
                      <a:endParaRPr lang="en-IN" sz="2400" b="0" kern="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37070560"/>
                  </a:ext>
                </a:extLst>
              </a:tr>
              <a:tr h="497894">
                <a:tc>
                  <a:txBody>
                    <a:bodyPr/>
                    <a:lstStyle/>
                    <a:p>
                      <a:pPr marL="234950" indent="-6350" algn="l">
                        <a:lnSpc>
                          <a:spcPct val="103000"/>
                        </a:lnSpc>
                        <a:spcAft>
                          <a:spcPts val="15"/>
                        </a:spcAft>
                        <a:buNone/>
                      </a:pPr>
                      <a:r>
                        <a:rPr lang="en-US" sz="2400" b="1" kern="100">
                          <a:effectLst/>
                        </a:rPr>
                        <a:t>Integration Testing</a:t>
                      </a:r>
                      <a:endParaRPr lang="en-IN" sz="2400" b="1" kern="1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34950" indent="-6350" algn="l">
                        <a:lnSpc>
                          <a:spcPct val="103000"/>
                        </a:lnSpc>
                        <a:spcAft>
                          <a:spcPts val="15"/>
                        </a:spcAft>
                        <a:buNone/>
                      </a:pPr>
                      <a:r>
                        <a:rPr lang="en-US" sz="2400" b="0" kern="100" dirty="0">
                          <a:effectLst/>
                        </a:rPr>
                        <a:t>Week 6</a:t>
                      </a:r>
                      <a:endParaRPr lang="en-IN" sz="2400" b="0" kern="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34950" indent="-6350" algn="l">
                        <a:lnSpc>
                          <a:spcPct val="103000"/>
                        </a:lnSpc>
                        <a:spcAft>
                          <a:spcPts val="15"/>
                        </a:spcAft>
                        <a:buNone/>
                      </a:pPr>
                      <a:r>
                        <a:rPr lang="en-US" sz="2400" b="0" kern="100" dirty="0">
                          <a:effectLst/>
                        </a:rPr>
                        <a:t>Week 6</a:t>
                      </a:r>
                      <a:endParaRPr lang="en-IN" sz="2400" b="0" kern="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5239607"/>
                  </a:ext>
                </a:extLst>
              </a:tr>
              <a:tr h="497894">
                <a:tc>
                  <a:txBody>
                    <a:bodyPr/>
                    <a:lstStyle/>
                    <a:p>
                      <a:pPr marL="234950" indent="-6350" algn="l">
                        <a:lnSpc>
                          <a:spcPct val="103000"/>
                        </a:lnSpc>
                        <a:spcAft>
                          <a:spcPts val="15"/>
                        </a:spcAft>
                        <a:buNone/>
                      </a:pPr>
                      <a:r>
                        <a:rPr lang="en-US" sz="2400" b="1" kern="100">
                          <a:effectLst/>
                        </a:rPr>
                        <a:t>Documentation</a:t>
                      </a:r>
                      <a:endParaRPr lang="en-IN" sz="2400" b="1" kern="1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34950" indent="-6350" algn="l">
                        <a:lnSpc>
                          <a:spcPct val="103000"/>
                        </a:lnSpc>
                        <a:spcAft>
                          <a:spcPts val="15"/>
                        </a:spcAft>
                        <a:buNone/>
                      </a:pPr>
                      <a:r>
                        <a:rPr lang="en-US" sz="2400" b="0" kern="100" dirty="0">
                          <a:effectLst/>
                        </a:rPr>
                        <a:t>Week 7-8</a:t>
                      </a:r>
                      <a:endParaRPr lang="en-IN" sz="2400" b="0" kern="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34950" indent="-6350" algn="l">
                        <a:lnSpc>
                          <a:spcPct val="103000"/>
                        </a:lnSpc>
                        <a:spcAft>
                          <a:spcPts val="15"/>
                        </a:spcAft>
                        <a:buNone/>
                      </a:pPr>
                      <a:r>
                        <a:rPr lang="en-US" sz="2400" b="0" kern="100" dirty="0">
                          <a:effectLst/>
                        </a:rPr>
                        <a:t>Week 7-8</a:t>
                      </a:r>
                      <a:endParaRPr lang="en-IN" sz="2400" b="0" kern="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34639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9287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13FE5-9746-3FB8-A965-6FFA57C3BD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sz="9600" b="1" i="1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  <a:endParaRPr lang="en-IN" sz="9600" b="1" i="1" spc="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B19B3-9363-77B7-23C4-8C322544EB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619648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199</TotalTime>
  <Words>672</Words>
  <Application>Microsoft Office PowerPoint</Application>
  <PresentationFormat>Widescreen</PresentationFormat>
  <Paragraphs>119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Cambria</vt:lpstr>
      <vt:lpstr>Times New Roman</vt:lpstr>
      <vt:lpstr>Trebuchet MS</vt:lpstr>
      <vt:lpstr>Wingdings 3</vt:lpstr>
      <vt:lpstr>Facet</vt:lpstr>
      <vt:lpstr>Industrial Component Inventory Analytics</vt:lpstr>
      <vt:lpstr>Project Definition</vt:lpstr>
      <vt:lpstr>Project Description</vt:lpstr>
      <vt:lpstr>Existing System / Work Environment</vt:lpstr>
      <vt:lpstr>Problem Statement</vt:lpstr>
      <vt:lpstr>Need for the New System</vt:lpstr>
      <vt:lpstr>Proposed System and Features</vt:lpstr>
      <vt:lpstr>Scope &amp; Expected Outcomes</vt:lpstr>
      <vt:lpstr>Tools and Technologies Used</vt:lpstr>
      <vt:lpstr>Project Plan</vt:lpstr>
      <vt:lpstr>Project Plan &amp; Timeline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RAJ</dc:creator>
  <cp:lastModifiedBy>Harshit Uppal</cp:lastModifiedBy>
  <cp:revision>15</cp:revision>
  <dcterms:created xsi:type="dcterms:W3CDTF">2026-01-26T15:40:12Z</dcterms:created>
  <dcterms:modified xsi:type="dcterms:W3CDTF">2026-04-03T05:41:32Z</dcterms:modified>
</cp:coreProperties>
</file>